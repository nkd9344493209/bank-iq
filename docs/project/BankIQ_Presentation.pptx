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line: Bank IQ takes a bank statement, keeps the existing RBI rule engine, and adds a classical ML layer that categorises every line better than the regexes, segments the customer, forecasts next month and flags unusual debits — deployed as a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baseline concrete: the regex classifier is measured at 72% on labelled data. That number is the villain of the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 mapping if asked: CO1 techniques, CO2 compare by metrics, CO3 choose a model for the business, CO4 interpret, CO5 deploy with a front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of these are in the department-format summary; sixteen in the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separation of duties: models describe and predict; rules decide.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explicit: synthetic but honest — labels independent of narration, so the regex baseline can be measured.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seasonal bump: that's what makes regression beyond naive worthwhile.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Complement NB: TF-IDF counts and imbalanced classes. Why kNN on SVD: Euclidean distance in 2,800 sparse dims is meaningless.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business case for ML: better recall on charges feeds the rule engine's core purpose.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Bagging = variance reduction; RF = bagging + feature randomisation; boosting = sequential bias reduction.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why R² is high: the target is autocorrelated; the honest comparison is against the naive baseline, which is why it is in the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Silhouette chooses k; ARI validates against the truth the generator hid. Both algorithms agree.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Variance retained is not information retained — the archetype F1 row is the useful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Non-parametric: nothing is learned globally; each prediction re-fits. O(n) per query.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this live if possible: sample → disagreements → model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honest slide. Examiners like 'what not to trust'.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demo to five steps; the long-tail sample with the disagreement filter is the moment that shows what ML adds.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one-line summary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2801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IQ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F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Intelligence Layer for Bank-Statement Analytics — transaction classification, customer segmentation and spend forecasting on a Regulatory Digital Twin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6118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FB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decide. Models learn. Both shown side by side.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75488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22MDC56 Machine Learning Laboratory · Project Work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Sandhru D.  ·  Register No. ____________  ·  M.Sc. Decision and Computing Sciences, V Semester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____________________  ·  Coimbatore Institute of Technology  ·  2026–27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identification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statement records everything and explains nothing — and the rule-based classifier cannot learn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EEF4EF"/>
          </a:solidFill>
          <a:ln w="12700">
            <a:solidFill>
              <a:srgbClr val="EEF4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37360"/>
            <a:ext cx="457200" cy="457200"/>
          </a:xfrm>
          <a:prstGeom prst="ellipse">
            <a:avLst/>
          </a:prstGeom>
          <a:solidFill>
            <a:srgbClr val="144C31"/>
          </a:solidFill>
          <a:ln w="12700">
            <a:solidFill>
              <a:srgbClr val="144C3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7190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Categorise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2402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line is a charge, a refund, income? Today: regular expressions — exact on known formats, silent on the long tail.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55448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EEF4EF"/>
          </a:solidFill>
          <a:ln w="12700">
            <a:solidFill>
              <a:srgbClr val="EEF4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1737360"/>
            <a:ext cx="457200" cy="457200"/>
          </a:xfrm>
          <a:prstGeom prst="ellipse">
            <a:avLst/>
          </a:prstGeom>
          <a:solidFill>
            <a:srgbClr val="144C31"/>
          </a:solidFill>
          <a:ln w="12700">
            <a:solidFill>
              <a:srgbClr val="144C3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6616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17190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2402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customers behave alike? Today: nothing — the engine works line by line.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55448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EEF4EF"/>
          </a:solidFill>
          <a:ln w="12700">
            <a:solidFill>
              <a:srgbClr val="EEF4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1737360"/>
            <a:ext cx="457200" cy="457200"/>
          </a:xfrm>
          <a:prstGeom prst="ellipse">
            <a:avLst/>
          </a:prstGeom>
          <a:solidFill>
            <a:srgbClr val="144C31"/>
          </a:solidFill>
          <a:ln w="12700">
            <a:solidFill>
              <a:srgbClr val="144C3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17190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22402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next month cost? Today: nothing.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52560" y="1554480"/>
            <a:ext cx="2560320" cy="2194560"/>
          </a:xfrm>
          <a:prstGeom prst="roundRect">
            <a:avLst>
              <a:gd name="adj" fmla="val 4167"/>
            </a:avLst>
          </a:prstGeom>
          <a:solidFill>
            <a:srgbClr val="EEF4EF"/>
          </a:solidFill>
          <a:ln w="12700">
            <a:solidFill>
              <a:srgbClr val="EEF4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35440" y="1737360"/>
            <a:ext cx="457200" cy="457200"/>
          </a:xfrm>
          <a:prstGeom prst="ellipse">
            <a:avLst/>
          </a:prstGeom>
          <a:solidFill>
            <a:srgbClr val="144C31"/>
          </a:solidFill>
          <a:ln w="12700">
            <a:solidFill>
              <a:srgbClr val="144C3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354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🚩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784080" y="171907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235440" y="22402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debit is unusual? Today: only what a rule names.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023360"/>
            <a:ext cx="110642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4160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45262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the transaction lines of a bank account (date, narration, debit, credit, balance), build, compare and deploy classical ML models that classify each line into ten categories more accurately than the existing regex classifier, predict next-month spend, segment customers by behaviour, flag unusual debits explainably, and present the results as business insights inside the existing app — with the rule engine still the only thing that files a claim.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5669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Vasool Raja (HackVerse 2.0, team Mad Angles) — parsers, digital twin, 19 RBI rules, Tamil/English app, 101 tests. Unchanged. Everything in bankiq/ is new.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IQ · 22MDC56 Machine Learning Laboratory ·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— one per syllabus concept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seven met, each against a baseline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EEF4EF"/>
          </a:solidFill>
          <a:ln w="12700">
            <a:solidFill>
              <a:srgbClr val="EEF4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91640"/>
            <a:ext cx="457200" cy="457200"/>
          </a:xfrm>
          <a:prstGeom prst="ellipse">
            <a:avLst/>
          </a:prstGeom>
          <a:solidFill>
            <a:srgbClr val="144C31"/>
          </a:solidFill>
          <a:ln w="12700">
            <a:solidFill>
              <a:srgbClr val="144C3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6733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Regression + CV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1945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Next-month spend: Linear, Ridge, Lasso, Poly, DT, RF, GB — GroupKFold by customer; naive baseline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50876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EEF4EF"/>
          </a:solidFill>
          <a:ln w="12700">
            <a:solidFill>
              <a:srgbClr val="EEF4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691640"/>
            <a:ext cx="457200" cy="457200"/>
          </a:xfrm>
          <a:prstGeom prst="ellipse">
            <a:avLst/>
          </a:prstGeom>
          <a:solidFill>
            <a:srgbClr val="144C31"/>
          </a:solidFill>
          <a:ln w="12700">
            <a:solidFill>
              <a:srgbClr val="144C3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805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0" y="16733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DT · NB · kNN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21945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category (10 classes): + Logistic Regression; stratified 5-fold CV; regex baseline; per-class F1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50876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EEF4EF"/>
          </a:solidFill>
          <a:ln w="12700">
            <a:solidFill>
              <a:srgbClr val="EEF4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691640"/>
            <a:ext cx="457200" cy="457200"/>
          </a:xfrm>
          <a:prstGeom prst="ellipse">
            <a:avLst/>
          </a:prstGeom>
          <a:solidFill>
            <a:srgbClr val="144C31"/>
          </a:solidFill>
          <a:ln w="12700">
            <a:solidFill>
              <a:srgbClr val="144C3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778240" y="16733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K-Means vs Ward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21945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 on 13 behavioural features — elbow, silhouette, dendrogram, ARI vs hidden type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52044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EEF4EF"/>
          </a:solidFill>
          <a:ln w="12700">
            <a:solidFill>
              <a:srgbClr val="EEF4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3703320"/>
            <a:ext cx="457200" cy="457200"/>
          </a:xfrm>
          <a:prstGeom prst="ellipse">
            <a:avLst/>
          </a:prstGeom>
          <a:solidFill>
            <a:srgbClr val="144C31"/>
          </a:solidFill>
          <a:ln w="12700">
            <a:solidFill>
              <a:srgbClr val="144C3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68503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PCA / SVD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2062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on profiles (variance, loadings, segment recovery); Truncated SVD on TF-IDF text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97680" y="352044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EEF4EF"/>
          </a:solidFill>
          <a:ln w="12700">
            <a:solidFill>
              <a:srgbClr val="EEF4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80560" y="3703320"/>
            <a:ext cx="457200" cy="457200"/>
          </a:xfrm>
          <a:prstGeom prst="ellipse">
            <a:avLst/>
          </a:prstGeom>
          <a:solidFill>
            <a:srgbClr val="144C31"/>
          </a:solidFill>
          <a:ln w="12700">
            <a:solidFill>
              <a:srgbClr val="144C3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48056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029200" y="368503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Ensembles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480560" y="42062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Bagging, Random Forest, AdaBoost, Gradient Boosting vs single tree; n-gram importances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46720" y="352044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EEF4EF"/>
          </a:solidFill>
          <a:ln w="12700">
            <a:solidFill>
              <a:srgbClr val="EEF4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0" y="3703320"/>
            <a:ext cx="457200" cy="457200"/>
          </a:xfrm>
          <a:prstGeom prst="ellipse">
            <a:avLst/>
          </a:prstGeom>
          <a:solidFill>
            <a:srgbClr val="144C31"/>
          </a:solidFill>
          <a:ln w="12700">
            <a:solidFill>
              <a:srgbClr val="144C3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2960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778240" y="368503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LWR (from scratch)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0" y="42062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Gaussian-kernel locally weighted regression of spend on income; bandwidth τ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553212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EEF4EF"/>
          </a:solidFill>
          <a:ln w="12700">
            <a:solidFill>
              <a:srgbClr val="EEF4E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1520" y="5715000"/>
            <a:ext cx="457200" cy="457200"/>
          </a:xfrm>
          <a:prstGeom prst="ellipse">
            <a:avLst/>
          </a:prstGeom>
          <a:solidFill>
            <a:srgbClr val="144C31"/>
          </a:solidFill>
          <a:ln w="12700">
            <a:solidFill>
              <a:srgbClr val="144C3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31520" y="5715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280160" y="5696712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End-to-end application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731520" y="6217920"/>
            <a:ext cx="10698480" cy="-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endpoints + Intelligence dashboard in the existing Tamil/English app: KPIs, insights, category mix, monthly chart, segment, forecast, anomalies, model card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IQ · 22MDC56 Machine Learning Laboratory ·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 — 16 references, one gap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representation → learners → ensembles → non-parametric → clustering → evaluation → financial anomalies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5486400"/>
                <a:gridCol w="3566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C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references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C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C3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features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Salton &amp; Buckley 1988 (TF-IDF); Cavnar &amp; Trenkle 1994 (char n-grams); Rennie et al. 2003 (Complement NB)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 word 1–2 + char 3–5 grams; Complement NB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learners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Quinlan 1986 (trees); Cover &amp; Hart 1967 (kNN)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Tree, kNN with sweeps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Breiman 1996, 2001; Freund &amp; Schapire 1997; Friedman 2001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Bagging, RF, AdaBoost, Gradient Boosting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Non-parametric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Cleveland 1979 (LOWESS)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LWR from scratch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Clustering + DR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MacQueen 1967; Ward 1963; Rousseeuw 1987; Jolliffe &amp; Cadima 2016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K-Means, Ward, silhouette, PCA/SVD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 / finance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Kohavi 1995 (CV); Ahmed et al. 2016 (financial anomaly survey)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Stratified &amp; grouped CV; robust z-score flags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754880"/>
            <a:ext cx="11064240" cy="1463040"/>
          </a:xfrm>
          <a:prstGeom prst="roundRect">
            <a:avLst>
              <a:gd name="adj" fmla="val 6250"/>
            </a:avLst>
          </a:prstGeom>
          <a:solidFill>
            <a:srgbClr val="EEF4EF"/>
          </a:solidFill>
          <a:ln w="12700">
            <a:solidFill>
              <a:srgbClr val="EEF4E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4846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52120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paper studies one technique; none is applied to bank-statement data against the regex rule systems banks actually run; classification, segmentation, forecasting and anomaly flags are never built on one pipeline; nothing is deployed beside a consumer-protection rule engine; and no public labelled statement dataset exists. Bank IQ addresses all four.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IQ · 22MDC56 Machine Learning Laboratory ·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engine and the intelligence layer share the parsers; only the rule engine files claims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103120" cy="2377440"/>
          </a:xfrm>
          <a:prstGeom prst="roundRect">
            <a:avLst>
              <a:gd name="adj" fmla="val 4348"/>
            </a:avLst>
          </a:prstGeom>
          <a:solidFill>
            <a:srgbClr val="EEF4EF"/>
          </a:solidFill>
          <a:ln w="12700">
            <a:solidFill>
              <a:srgbClr val="EEF4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37360"/>
            <a:ext cx="457200" cy="457200"/>
          </a:xfrm>
          <a:prstGeom prst="ellipse">
            <a:avLst/>
          </a:prstGeom>
          <a:solidFill>
            <a:srgbClr val="144C31"/>
          </a:solidFill>
          <a:ln w="12700">
            <a:solidFill>
              <a:srgbClr val="144C3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71907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24028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· PDF · passbook photo → vasool.parsers → lines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2606040" y="24688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4C31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788920" y="1554480"/>
            <a:ext cx="2103120" cy="2377440"/>
          </a:xfrm>
          <a:prstGeom prst="roundRect">
            <a:avLst>
              <a:gd name="adj" fmla="val 4348"/>
            </a:avLst>
          </a:prstGeom>
          <a:solidFill>
            <a:srgbClr val="EEF4EF"/>
          </a:solidFill>
          <a:ln w="12700">
            <a:solidFill>
              <a:srgbClr val="EEF4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71800" y="1737360"/>
            <a:ext cx="457200" cy="457200"/>
          </a:xfrm>
          <a:prstGeom prst="ellipse">
            <a:avLst/>
          </a:prstGeom>
          <a:solidFill>
            <a:srgbClr val="144C31"/>
          </a:solidFill>
          <a:ln w="12700">
            <a:solidFill>
              <a:srgbClr val="144C3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718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171907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971800" y="224028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narration → TF-IDF word + char n-grams + 9 numeric · customer-month panel (34) · customer profile (14)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24688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4C31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029200" y="1554480"/>
            <a:ext cx="2103120" cy="2377440"/>
          </a:xfrm>
          <a:prstGeom prst="roundRect">
            <a:avLst>
              <a:gd name="adj" fmla="val 4348"/>
            </a:avLst>
          </a:prstGeom>
          <a:solidFill>
            <a:srgbClr val="EEF4EF"/>
          </a:solidFill>
          <a:ln w="12700">
            <a:solidFill>
              <a:srgbClr val="EEF4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12080" y="1737360"/>
            <a:ext cx="457200" cy="457200"/>
          </a:xfrm>
          <a:prstGeom prst="ellipse">
            <a:avLst/>
          </a:prstGeom>
          <a:solidFill>
            <a:srgbClr val="144C31"/>
          </a:solidFill>
          <a:ln w="12700">
            <a:solidFill>
              <a:srgbClr val="144C3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120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760720" y="171907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212080" y="224028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LogReg / NB / DT / kNN / RF / GB classifiers · 7 regressors · K-Means / Ward · PCA / SVD · LWR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24688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4C31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269480" y="1554480"/>
            <a:ext cx="2103120" cy="2377440"/>
          </a:xfrm>
          <a:prstGeom prst="roundRect">
            <a:avLst>
              <a:gd name="adj" fmla="val 4348"/>
            </a:avLst>
          </a:prstGeom>
          <a:solidFill>
            <a:srgbClr val="EEF4EF"/>
          </a:solidFill>
          <a:ln w="12700">
            <a:solidFill>
              <a:srgbClr val="EEF4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52360" y="1737360"/>
            <a:ext cx="457200" cy="457200"/>
          </a:xfrm>
          <a:prstGeom prst="ellipse">
            <a:avLst/>
          </a:prstGeom>
          <a:solidFill>
            <a:srgbClr val="144C31"/>
          </a:solidFill>
          <a:ln w="12700">
            <a:solidFill>
              <a:srgbClr val="144C3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5236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001000" y="171907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452360" y="224028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analyze(): categories (+ rule side by side) → mix → panel → segment → forecast → anomalies → insights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9326880" y="24688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4C31"/>
                </a:solidFill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509760" y="1554480"/>
            <a:ext cx="2103120" cy="2377440"/>
          </a:xfrm>
          <a:prstGeom prst="roundRect">
            <a:avLst>
              <a:gd name="adj" fmla="val 4348"/>
            </a:avLst>
          </a:prstGeom>
          <a:solidFill>
            <a:srgbClr val="EEF4EF"/>
          </a:solidFill>
          <a:ln w="12700">
            <a:solidFill>
              <a:srgbClr val="EEF4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92640" y="1737360"/>
            <a:ext cx="457200" cy="457200"/>
          </a:xfrm>
          <a:prstGeom prst="ellipse">
            <a:avLst/>
          </a:prstGeom>
          <a:solidFill>
            <a:srgbClr val="144C31"/>
          </a:solidFill>
          <a:ln w="12700">
            <a:solidFill>
              <a:srgbClr val="144C3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6926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0241280" y="171907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692640" y="224028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/api/ml/* + /api/accounts/{id}/intelligence · Intelligence screen (Tamil/English) · model card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420624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EEF4EF"/>
          </a:solidFill>
          <a:ln w="12700">
            <a:solidFill>
              <a:srgbClr val="EEF4E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" y="4389120"/>
            <a:ext cx="457200" cy="457200"/>
          </a:xfrm>
          <a:prstGeom prst="ellipse">
            <a:avLst/>
          </a:prstGeom>
          <a:solidFill>
            <a:srgbClr val="14301F"/>
          </a:solidFill>
          <a:ln w="12700">
            <a:solidFill>
              <a:srgbClr val="14301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3152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1280160" y="43708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 (unchanged)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731520" y="489204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(regex) → twin → 19 RBI rules → findings → evidence pack → guardian → case. The ML layer never creates a finding.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217920" y="420624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EEF4EF"/>
          </a:solidFill>
          <a:ln w="12700">
            <a:solidFill>
              <a:srgbClr val="EEF4E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00800" y="4389120"/>
            <a:ext cx="457200" cy="457200"/>
          </a:xfrm>
          <a:prstGeom prst="ellipse">
            <a:avLst/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40080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6949440" y="43708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6400800" y="489204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train → results/*.json, 15 figures, 6 joblib models (~25 min). Every table in the report, slides and model card is generated, not typed. 114 tests.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IQ · 22MDC56 Machine Learning Laboratory ·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and preprocessing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1,27,604 labelled lines · 500 customers × 12 months · 10 categories · 5 hidden archetypes</a:t>
            </a:r>
            <a:endParaRPr lang="en-US" sz="1400" dirty="0"/>
          </a:p>
        </p:txBody>
      </p:sp>
      <p:pic>
        <p:nvPicPr>
          <p:cNvPr id="4" name="Image 0" descr="/home/claude/bank-iq/results/figures/fig1_datas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6583680" cy="32918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0" y="1463040"/>
            <a:ext cx="42976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 labelled statement data (personal data) → documented, deterministic generator; label = generating category, never a function of the narration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long-tail narrations + noise (truncation, codes) — where regexes fail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 (festival ×1.25, school fees ×1.15) + one-off big-ticket months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Cleaning: letter–digit split, mask ≥2-digit runs → NUM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word 1–2 + char_wb 3–5 + 9 numeric → 2,789 sparse features; SVD-200 for kNN / boosting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Customer-month panel (34 features, target = next spend); 14-feature profile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IQ · 22MDC56 Machine Learning Laboratory ·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is sticky and seasonal; UPI and ATM shares separate customer types; charges are rare but many-templated</a:t>
            </a:r>
            <a:endParaRPr lang="en-US" sz="1400" dirty="0"/>
          </a:p>
        </p:txBody>
      </p:sp>
      <p:pic>
        <p:nvPicPr>
          <p:cNvPr id="4" name="Image 0" descr="/home/claude/bank-iq/results/figures/fig2_tren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6766560" cy="2514600"/>
          </a:xfrm>
          <a:prstGeom prst="rect">
            <a:avLst/>
          </a:prstGeom>
        </p:spPr>
      </p:pic>
      <p:pic>
        <p:nvPicPr>
          <p:cNvPr id="5" name="Image 1" descr="/home/claude/bank-iq/results/figures/fig3_customer_profil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023360"/>
            <a:ext cx="6766560" cy="22860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498080" y="1463040"/>
            <a:ext cx="41148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88.3% of lines are debits; UPI is the most frequent category, bank charges and interest the rarest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Amounts span 4 orders of magnitude → log amount, is_round, has_paise carry signal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spend autocorrelated → naive forecast is a serious baseline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Festival-season bump in every archetype → calendar features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Students: UPI-heavy; pensioners: ATM-heavy; business: large transfers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IQ · 22MDC56 Machine Learning Laboratory ·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 2 · DT, Naive Bayes, kNN vs the regex baseline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5-fold CV on 32,000 train lines · 8,000 held-out · 10 classes · macro-F1 drives selection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51206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822960"/>
                <a:gridCol w="822960"/>
                <a:gridCol w="8229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C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acc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C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acc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C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Macro-F1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C3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Rule-based (regex)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Bayes (Complement)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 (k=7, SVD-200)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/home/claude/bank-iq/results/figures/fig5_classific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1463040"/>
            <a:ext cx="5760720" cy="1828800"/>
          </a:xfrm>
          <a:prstGeom prst="rect">
            <a:avLst/>
          </a:prstGeom>
        </p:spPr>
      </p:pic>
      <p:pic>
        <p:nvPicPr>
          <p:cNvPr id="6" name="Image 1" descr="/home/claude/bank-iq/results/figures/fig7_sweep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3383280"/>
            <a:ext cx="5760720" cy="18288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48640" y="384048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rules: 71.5% — perfect on known formats, blind on the long tail (lowest F1: Transfer out, Loan EMI)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99.9% / macro-F1 0.997 — deployed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 NB 93.4% in 0.4s (fastest, weakest) · tree 96.7% · kNN 97.4% on SVD-200 + cosine</a:t>
            </a:r>
            <a:endParaRPr lang="en-US" sz="1100" dirty="0"/>
          </a:p>
        </p:txBody>
      </p:sp>
      <p:sp>
        <p:nvSpPr>
          <p:cNvPr id="8" name="Text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IQ · 22MDC56 Machine Learning Laboratory ·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learned model gains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Row-normalised confusion: rules vs best model — the rules fail where they were never written (transfers, EMIs, merchant lines)</a:t>
            </a:r>
            <a:endParaRPr lang="en-US" sz="1400" dirty="0"/>
          </a:p>
        </p:txBody>
      </p:sp>
      <p:pic>
        <p:nvPicPr>
          <p:cNvPr id="4" name="Image 0" descr="/home/claude/bank-iq/results/figures/fig6_confu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7589520" cy="3200400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21040" y="1417320"/>
          <a:ext cx="32918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685800"/>
                <a:gridCol w="685800"/>
                <a:gridCol w="6400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C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F1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C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F1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C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C3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 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+0.573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 EMI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Card/POS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+0.196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47548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Rules: weakest on transfers out (F1 0.427), EMIs, UPI/card merchant lines; strongest on charges (0.888) — what they were built for. Model: every class ≥ 0.985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Rule-friendly sample statements: 99% agreement (validation). Long-tail sample (merchant-only, bank codes): 30 of 41 lines differ and the rules are the ones that fail — PAYROLL, BAJAJ FIN, SWIGGY CHENNAI, CSH WDL, QTRLY INT all become generic transfers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Real-format check: 94 sample-statement lines → numeric block down-weighted to 0.1 (agreement with rules 83.0% → 98.9%); direction mask: a credit line can only be a credit category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IQ · 22MDC56 Machine Learning Laboratory ·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 5 · Ensemble learning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· Random Forest · AdaBoost · Gradient Boosting vs one tree · best: Gradient Boosting (SVD-200)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5394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777240"/>
                <a:gridCol w="777240"/>
                <a:gridCol w="777240"/>
                <a:gridCol w="6858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C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acc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C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acc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C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Macro-F1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C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 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C3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 (single)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Bagging (50 trees)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(200)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AdaBoost (30, SVD-200)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143.3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 (SVD-200)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/home/claude/bank-iq/results/figures/fig8_ensemb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463040"/>
            <a:ext cx="5486400" cy="173736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126480" y="3383280"/>
            <a:ext cx="54864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Bagging: 96.0% → 98.6% by averaging tree variance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de-correlates trees too: 99.7%, macro-F1 0.996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on SVD-200: 99.9%; AdaBoost stumps weakest (80.1%) and slow on 10 classes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Forest's top n-grams are human-readable: is_debit, log_amount, amount, day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IQ · 22MDC56 Machine Learning Laboratory ·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 1 · Regression with cross-validation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Next-month spend from this month's behaviour · GroupKFold(5) by customer · best: Gradient Boosting (400)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57607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731520"/>
                <a:gridCol w="777240"/>
                <a:gridCol w="960120"/>
                <a:gridCol w="9144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C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R²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C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R²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C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C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C3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(same as this month)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₹13,590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₹7,255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₹11,990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₹6,653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 (α=1)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₹11,990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₹6,652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Lasso (α=10)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₹11,993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₹6,636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Polynomial deg-2 + Ridge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₹12,529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₹6,654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 (depth 8)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₹12,929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₹6,944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(300)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₹11,915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₹6,313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 (400)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₹11,881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₹6,105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/home/claude/bank-iq/results/figures/fig9_regres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463040"/>
            <a:ext cx="5120640" cy="1645920"/>
          </a:xfrm>
          <a:prstGeom prst="rect">
            <a:avLst/>
          </a:prstGeom>
        </p:spPr>
      </p:pic>
      <p:pic>
        <p:nvPicPr>
          <p:cNvPr id="6" name="Image 1" descr="/home/claude/bank-iq/results/figures/fig10_regression_import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200400"/>
            <a:ext cx="5120640" cy="283464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48640" y="4434840"/>
            <a:ext cx="5760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"same as this month" already R² 0.832 — spend is sticky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(400): R² 0.871, RMSE ₹11,881 — 13% below naive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= Lasso = OLS: 4,400 rows support 34 coefficients; poly over-fits slightly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Importance: previous + current spend ≈ 80%; one year of data → calendar effects barely learnable (future: multi-year)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GroupKFold: a customer's months never split across folds — no identity leakage</a:t>
            </a:r>
            <a:endParaRPr lang="en-US" sz="1100" dirty="0"/>
          </a:p>
        </p:txBody>
      </p:sp>
      <p:sp>
        <p:nvSpPr>
          <p:cNvPr id="8" name="Text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IQ · 22MDC56 Machine Learning Laboratory ·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 3 · K-Means vs hierarchical clustering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5 (silhouette plateau 5–6, smallest kept) · K-Means vs Ward ARI 0.93 · recovers the hidden customer type: ARI 0.93</a:t>
            </a:r>
            <a:endParaRPr lang="en-US" sz="1400" dirty="0"/>
          </a:p>
        </p:txBody>
      </p:sp>
      <p:pic>
        <p:nvPicPr>
          <p:cNvPr id="4" name="Image 0" descr="/home/claude/bank-iq/results/figures/fig11_cluster_sel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949440" cy="1783080"/>
          </a:xfrm>
          <a:prstGeom prst="rect">
            <a:avLst/>
          </a:prstGeom>
        </p:spPr>
      </p:pic>
      <p:pic>
        <p:nvPicPr>
          <p:cNvPr id="5" name="Image 1" descr="/home/claude/bank-iq/results/figures/fig12_dendrogram_segme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46120"/>
            <a:ext cx="6949440" cy="2377440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417320"/>
          <a:ext cx="393192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502920"/>
                <a:gridCol w="914400"/>
                <a:gridCol w="9144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C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C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Spend/mo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C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C3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High-value / business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₹95,051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Low-activity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₹3,020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low_activity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Cash-reliant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₹8,160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pensioner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Digital-first (UPI heavy)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₹5,979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Regular salaried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₹45,227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salaried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2"/>
          <p:cNvSpPr txBox="1"/>
          <p:nvPr/>
        </p:nvSpPr>
        <p:spPr>
          <a:xfrm>
            <a:off x="7680960" y="3566160"/>
            <a:ext cx="3931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continuous behavioural features (median-month statistics), standardised; archetype used only to score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has_emi left out: a standardised binary dominates Euclidean distance and split every segment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Cash-reliant = pensioners (41% ATM) · Digital-first = students (56% UPI, no EMI) · Low-activity = most charges, dormancy risk</a:t>
            </a:r>
            <a:endParaRPr lang="en-US" sz="1100" dirty="0"/>
          </a:p>
        </p:txBody>
      </p:sp>
      <p:sp>
        <p:nvSpPr>
          <p:cNvPr id="8" name="Text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IQ · 22MDC56 Machine Learning Laboratory ·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 4 · Dimensionality reduction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PCA: 9 of 13 profile components for 95% variance — but 3 recover the segment · SVD on text</a:t>
            </a:r>
            <a:endParaRPr lang="en-US" sz="1400" dirty="0"/>
          </a:p>
        </p:txBody>
      </p:sp>
      <p:pic>
        <p:nvPicPr>
          <p:cNvPr id="4" name="Image 0" descr="/home/claude/bank-iq/results/figures/fig14_p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11064240" cy="2880360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26280"/>
          <a:ext cx="56692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841248"/>
                <a:gridCol w="841248"/>
                <a:gridCol w="841248"/>
                <a:gridCol w="841248"/>
                <a:gridCol w="841248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PCs kept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C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C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C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C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C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C3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archetype F1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 archetype F1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400800" y="4526280"/>
            <a:ext cx="5212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features only mildly correlated → 9 PCs for 95% variance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PCs already give archetype F1 0.955 — the segment signal is 3-D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Text: SVD-100 keeps 87.6% variance, logistic F1 0.989 vs 0.999 on all 2,789 features — speed for kNN/boosting at small cost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IQ · 22MDC56 Machine Learning Laboratory ·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 6 · Locally weighted regression (from scratch)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kernel weights · weighted least squares at every query income · bandwidth τ sweep</a:t>
            </a:r>
            <a:endParaRPr lang="en-US" sz="1400" dirty="0"/>
          </a:p>
        </p:txBody>
      </p:sp>
      <p:pic>
        <p:nvPicPr>
          <p:cNvPr id="4" name="Image 0" descr="/home/claude/bank-iq/results/figures/fig15_lw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7315200" cy="2606040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0" y="1463040"/>
          <a:ext cx="35661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4630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C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RMSE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C3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₹12,586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Polynomial deg-3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₹12,517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LWR τ=2.0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₹12,704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LWR τ=5.0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₹12,516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LWR τ=10.0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₹12,476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LWR τ=25.0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₹12,519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LWR τ=60.0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₹12,538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4206240"/>
            <a:ext cx="11064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w_i = exp(−(x_i − x₀)² / 2τ²);  θ = (XᵀWX)⁻¹XᵀWy;  ŷ₀ = [1, x₀]·θ — NumPy only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LWR τ=10.0: RMSE ₹12,476 vs ₹12,586 for the global line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rises steeply with income at the low end and flattens — one line cannot bend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τ chases noise in the sparse high-income tail; large τ → the global line (bias–variance)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IQ · 22MDC56 Machine Learning Laboratory ·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 7 · The Intelligence dashboard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endpoints + a screen in the existing Tamil/English app · models inform, rules decide</a:t>
            </a:r>
            <a:endParaRPr lang="en-US" sz="1400" dirty="0"/>
          </a:p>
        </p:txBody>
      </p:sp>
      <p:pic>
        <p:nvPicPr>
          <p:cNvPr id="4" name="Image 0" descr="/home/claude/bank-iq/docs/screenshots/intelligence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6675120" cy="44805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4066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my account · upload · samples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KPIs: debits, income, charges, segment, forecast vs naive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engine: trend, biggest mover, largest outflow, charges → Findings, savings rate, segment, forecast, anomalies, rule disagreements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line: ML category + confidence + rule category; 'show disagreements only'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debits: robust z-score within category (log amount, 3 MADs)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card: live tables from results/*.json + all 15 figures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Endpoints: /api/ml/status · /results · /figures · /analyze · /analyze-json · /api/accounts/{id}/intelligence (session)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IQ · 22MDC56 Machine Learning Laboratory ·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analysis and business insights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numbers mean for a customer, a bank and the rule engine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66160" cy="2240280"/>
          </a:xfrm>
          <a:prstGeom prst="roundRect">
            <a:avLst>
              <a:gd name="adj" fmla="val 4082"/>
            </a:avLst>
          </a:prstGeom>
          <a:solidFill>
            <a:srgbClr val="EEF4EF"/>
          </a:solidFill>
          <a:ln w="12700">
            <a:solidFill>
              <a:srgbClr val="EEF4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91640"/>
            <a:ext cx="457200" cy="457200"/>
          </a:xfrm>
          <a:prstGeom prst="ellipse">
            <a:avLst/>
          </a:prstGeom>
          <a:solidFill>
            <a:srgbClr val="D93025"/>
          </a:solidFill>
          <a:ln w="12700">
            <a:solidFill>
              <a:srgbClr val="D9302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6733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money goes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19456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line now has a trusted category (rules: 71.5%; model: 99.9%). Charges still reach the rule engine: F1 0.888 → 1.000; the dashboard points them to Findings.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508760"/>
            <a:ext cx="3566160" cy="2240280"/>
          </a:xfrm>
          <a:prstGeom prst="roundRect">
            <a:avLst>
              <a:gd name="adj" fmla="val 4082"/>
            </a:avLst>
          </a:prstGeom>
          <a:solidFill>
            <a:srgbClr val="EEF4EF"/>
          </a:solidFill>
          <a:ln w="12700">
            <a:solidFill>
              <a:srgbClr val="EEF4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691640"/>
            <a:ext cx="457200" cy="457200"/>
          </a:xfrm>
          <a:prstGeom prst="ellipse">
            <a:avLst/>
          </a:prstGeom>
          <a:solidFill>
            <a:srgbClr val="144C31"/>
          </a:solidFill>
          <a:ln w="12700">
            <a:solidFill>
              <a:srgbClr val="144C3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805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0" y="16733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as actions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219456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Cash-reliant pensioners: free-ATM rules. Low-activity: most charges, dormancy / reactivation charges. Digital-first students: failed-UPI reversals. Salaried: EMIs, forecast audience. High-value: widest forecast intervals.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508760"/>
            <a:ext cx="3566160" cy="2240280"/>
          </a:xfrm>
          <a:prstGeom prst="roundRect">
            <a:avLst>
              <a:gd name="adj" fmla="val 4082"/>
            </a:avLst>
          </a:prstGeom>
          <a:solidFill>
            <a:srgbClr val="EEF4EF"/>
          </a:solidFill>
          <a:ln w="12700">
            <a:solidFill>
              <a:srgbClr val="EEF4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691640"/>
            <a:ext cx="457200" cy="457200"/>
          </a:xfrm>
          <a:prstGeom prst="ellipse">
            <a:avLst/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778240" y="16733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 next month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219456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shown beside the naive guess with the model named; 13% lower error on test; gains concentrate in seasonal months.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EEF4EF"/>
          </a:solidFill>
          <a:ln w="12700">
            <a:solidFill>
              <a:srgbClr val="EEF4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114800"/>
            <a:ext cx="457200" cy="457200"/>
          </a:xfrm>
          <a:prstGeom prst="ellipse">
            <a:avLst/>
          </a:prstGeom>
          <a:solidFill>
            <a:srgbClr val="E8A000"/>
          </a:solidFill>
          <a:ln w="12700">
            <a:solidFill>
              <a:srgbClr val="E8A0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🚩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409651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debits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61772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Category-aware: ₹15,000 is normal for a transfer, abnormal for UPI. Insight says '4× the typical ATM withdrawal'. Hints, never claims.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393192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EEF4EF"/>
          </a:solidFill>
          <a:ln w="12700">
            <a:solidFill>
              <a:srgbClr val="EEF4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4114800"/>
            <a:ext cx="457200" cy="457200"/>
          </a:xfrm>
          <a:prstGeom prst="ellipse">
            <a:avLst/>
          </a:prstGeom>
          <a:solidFill>
            <a:srgbClr val="14301F"/>
          </a:solidFill>
          <a:ln w="12700">
            <a:solidFill>
              <a:srgbClr val="14301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949440" y="409651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not to trust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0" y="461772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 on synthetic data = learned the generator's language; trust the per-class ordering and the sample-statement disagreements. Forecasts need ≥3 months. Nothing here is a claim.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IQ · 22MDC56 Machine Learning Laboratory · 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Deployment, testing and demo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to reproduce every number · one command to run the app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EEF4EF"/>
          </a:solidFill>
          <a:ln w="12700">
            <a:solidFill>
              <a:srgbClr val="EEF4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91640"/>
            <a:ext cx="457200" cy="457200"/>
          </a:xfrm>
          <a:prstGeom prst="ellipse">
            <a:avLst/>
          </a:prstGeom>
          <a:solidFill>
            <a:srgbClr val="144C31"/>
          </a:solidFill>
          <a:ln w="12700">
            <a:solidFill>
              <a:srgbClr val="144C3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6733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19456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train → results/, models/ (~25 min)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 api.main:app → :8000 → Intelligence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--build (trains at build)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50876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EEF4EF"/>
          </a:solidFill>
          <a:ln w="12700">
            <a:solidFill>
              <a:srgbClr val="EEF4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691640"/>
            <a:ext cx="457200" cy="457200"/>
          </a:xfrm>
          <a:prstGeom prst="ellipse">
            <a:avLst/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805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0" y="16733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219456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 Vasool Raja tests + 13 new: generator determinism, masking, featurizer, panel/profile, rule map, LWR exactness, service accuracy &gt; 90%, endpoints, 415 on bad upload, 401/404 without session.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50876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EEF4EF"/>
          </a:solidFill>
          <a:ln w="12700">
            <a:solidFill>
              <a:srgbClr val="EEF4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691640"/>
            <a:ext cx="457200" cy="457200"/>
          </a:xfrm>
          <a:prstGeom prst="ellipse">
            <a:avLst/>
          </a:prstGeom>
          <a:solidFill>
            <a:srgbClr val="14301F"/>
          </a:solidFill>
          <a:ln w="12700">
            <a:solidFill>
              <a:srgbClr val="14301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⌥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778240" y="16733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219456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bankiq/ (data, features, rulemap, experiments, service, api) · notebooks/01–07 · results/ · models/ · tests/ · docs/ (Phase I, literature, report, slides, viva)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11064240" cy="2286000"/>
          </a:xfrm>
          <a:prstGeom prst="roundRect">
            <a:avLst>
              <a:gd name="adj" fmla="val 4000"/>
            </a:avLst>
          </a:prstGeom>
          <a:solidFill>
            <a:srgbClr val="EEF4EF"/>
          </a:solidFill>
          <a:ln w="12700">
            <a:solidFill>
              <a:srgbClr val="EEF4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4069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3-minute demo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48056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→ Sample: hdfc priya salary → KPIs, insights, category mix (model and rules agree on every line)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Sample: axis kavya longtail → 'show disagreements only': 30 of 41 lines — the regexes see generic transfers, the model sees income, EMI, UPI, ATM, refund, interest, charge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Canara pension sample → Cash-reliant, five charges, ₹50,000 college fee flagged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card → Table live from results JSON → Fig 5, Fig 11, Fig 15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tab → the rule engine's claims on the same statement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IQ · 22MDC56 Machine Learning Laboratory · 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and future scope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760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F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seven syllabus techniques applied to one real product, each against a baseline, under cross-validation that respects the data (stratified; grouped by customer)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F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classifier: 71.5% (regex) → 99.9% (logistic) / 99.7% (forest); biggest gains on transfers, EMIs and merchant lines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F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13% below naive; K-Means and Ward agree on 5 segments that recover the hidden types (ARI 0.93); PCA shows a 3-D segment signal; LWR exposes the bend in spend vs income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F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beside an untouched rule engine; reproducible; 114 tests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583680" y="1463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B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583680" y="1965960"/>
            <a:ext cx="5029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consented statements (Account Aggregator) + active learning on model–rule disagreements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Multi-year histories; prediction intervals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findings fed back as training labels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/ Hindi tokens; OCR-specific character models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once labelled anomalies exist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github.com/&lt;your-user&gt;/bank-iq   ·   Thank you — 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IQ – Project Presentation</dc:title>
  <dc:subject>PptxGenJS Presentation</dc:subject>
  <dc:creator>PptxGenJS</dc:creator>
  <cp:lastModifiedBy>PptxGenJS</cp:lastModifiedBy>
  <cp:revision>1</cp:revision>
  <dcterms:created xsi:type="dcterms:W3CDTF">2026-10-04T09:06:22Z</dcterms:created>
  <dcterms:modified xsi:type="dcterms:W3CDTF">2026-10-04T09:06:22Z</dcterms:modified>
</cp:coreProperties>
</file>